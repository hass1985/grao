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C0782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B220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2.9</c:v>
                </c:pt>
                <c:pt idx="1">
                  <c:v>23.5</c:v>
                </c:pt>
                <c:pt idx="2">
                  <c:v>88.2</c:v>
                </c:pt>
                <c:pt idx="3">
                  <c:v>176.4</c:v>
                </c:pt>
                <c:pt idx="4">
                  <c:v>294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3B220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20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Qual foi a primeira coisa que você fez quando acordou hoje? Provavelmente pegou o celular. E o que encontrou lá não foi paz, foi ruído. O Grão existe pra mudar o primeiro gesto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brasileiro é um dos povos mais religiosos e mais conectados do mundo, mas esses dois mundos não se encontram.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Grão entrega, toda manhã, uma única semente: um versículo, uma oração e uma prática. O essencial, em um minuto, no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 eu mostrar. O Grão conhece a pessoa, ela escolhe o horário, a semente chega no WhatsApp, escolhe o plano, vive o minuto de fé e tudo vira histórico. No pitch mostro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porta de entrada do app. Quatro telas ilustradas e animadas explicam o Grão em segundos, com a cara de calma da marca. No protótipo web a animação é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alguém paga? Conteúdo é grátis; o escasso é constância, direção pessoal e presença. E a disposição a pagar já existe: dízimo, livro, congresso, música. R$49 é menos que um show gospel.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pessoa sai de uma fé espremida e culpada pra um ritmo diário e pessoal. O primeiro gesto do dia vira um minuto de paz. Não é mais um app, é começar o dia com Deus e conseguir manter.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WhatsApp: zero fricção. IA: personalização em escala, sem custo humano por mensagem. Juntos, o hábito diário que nenhum app conseguiu.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com LLM monta um perfil invisível; um motor escolhe a semente de uma biblioteca curada; entrega via WhatsApp API (roadmap). LGPD desde o desenho. Detalhe no apêndice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 40 milhões de evangélicos com smartphone; SAM 10 milhões; SOM 200 a 500 mil = 118 a 294 milhões de ARR. Foco na Assembleia. Validar 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 1, 5 mil pagantes, quase 3 milhões de ARR. Ano 3, 150 mil, 88 milhões. Ano 5, 500 mil, quase 294 milhões. Cenário base, a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Escada de preço: 19,90 de entrada, 49 o Plantio, e o anual. Margem bruta perto de 90%. LTV ~880 e, via igreja, LTV/CAC acima de 20x.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Canal não é ads, é a igreja. Foco na Assembleia. Um pastor que adota traz a congregação. A ponte de SP abre as portas certas.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nos protege é confiança: fé como dado sensível, LGPD, direito de apagar tudo. Isso mais a personalização real é o fosso.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Já temos protótipo funcional. Em 6 meses: WhatsApp em produção, 50 igrejas, 1.500 pagantes. Em 12 meses: 5.000 assinantes.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Buscamos um sócio com força técnica (R$1,5M ou parceria equivalente) e a ponte de distribuição pra Assembleia. O que construímos é maior que um número: o primeiro gesto do dia ser com Deus, não com o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gif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56" y="1165860"/>
            <a:ext cx="1691640" cy="1691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889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Grão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0" y="37033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07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semente por dia.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Devocional diário e pessoal, no WhatsApp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nome]   ·   [contato]   ·   [site]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 PROBLEMA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fé é diária. A tecnologia não acompanha.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 milhões de cristãos no Brasil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2313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 um instante de fé todo dia, no mesmo celular onde vivem.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32918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celular entrega ruído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71600" y="36850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paz, a pessoa cai num feed de ansiedade, comparação e distração.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46634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igreja tem a mensagem, mas não o canal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1600" y="50566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esquecido, post genérico, corrente. Nada diário, pessoal, nem no ritmo de quem tem 1 minuto.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SOLUÇÃO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dia, uma única semente.
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C07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palavra, uma oração, uma prática.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essencial, em 1 minuto, no lugar onde o brasileiro já vive: o WhatsApp.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48463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4A2E1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46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Palavra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71800" y="48463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4A2E10"/>
          </a:solidFill>
          <a:ln/>
        </p:spPr>
      </p:sp>
      <p:sp>
        <p:nvSpPr>
          <p:cNvPr id="9" name="Text 6"/>
          <p:cNvSpPr/>
          <p:nvPr/>
        </p:nvSpPr>
        <p:spPr>
          <a:xfrm>
            <a:off x="2971800" y="4846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Oração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303520" y="48463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4A2E10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0" y="4846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 PRODUTO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primeiro oi à semente do dia.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515600" y="384048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493776"/>
            <a:ext cx="969264" cy="9692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NO CELULAR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836199" y="1911096"/>
            <a:ext cx="1630839" cy="3401568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2" descr="/Users/lucassouza/grao/pitch/telas/02-convers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63" y="1965960"/>
            <a:ext cx="1521111" cy="3291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8183" y="5367528"/>
            <a:ext cx="18868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te conhece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2613342" y="1911096"/>
            <a:ext cx="1630839" cy="3401568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3" descr="/Users/lucassouza/grao/pitch/telas/09-notificac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206" y="1965960"/>
            <a:ext cx="1521111" cy="3291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85326" y="5367528"/>
            <a:ext cx="18868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escolhe o horário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390485" y="1911096"/>
            <a:ext cx="1630839" cy="3401568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/Users/lucassouza/grao/pitch/telas/04-whatsappdem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349" y="1965960"/>
            <a:ext cx="1521111" cy="32918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62469" y="5367528"/>
            <a:ext cx="18868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no WhatsApp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6167628" y="1911096"/>
            <a:ext cx="1630839" cy="3401568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5" descr="/Users/lucassouza/grao/pitch/telas/10-plano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492" y="1965960"/>
            <a:ext cx="1521111" cy="32918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39612" y="5367528"/>
            <a:ext cx="18868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plano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7944771" y="1911096"/>
            <a:ext cx="1630839" cy="3401568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6" descr="/Users/lucassouza/grao/pitch/telas/05-hoj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635" y="1965960"/>
            <a:ext cx="1521111" cy="32918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816755" y="5367528"/>
            <a:ext cx="18868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 de fé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9721914" y="1911096"/>
            <a:ext cx="1630839" cy="3401568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7" descr="/Users/lucassouza/grao/pitch/telas/07-raiz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6778" y="1965960"/>
            <a:ext cx="1521111" cy="32918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593898" y="5367528"/>
            <a:ext cx="18868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sementes</a:t>
            </a:r>
            <a:endParaRPr lang="en-US" sz="1050" dirty="0"/>
          </a:p>
        </p:txBody>
      </p:sp>
      <p:sp>
        <p:nvSpPr>
          <p:cNvPr id="26" name="Text 16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E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pitch, ao vivo: o app rodando no celular.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 PORTA DE ENTRADA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começo que encanta.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41248" y="1801368"/>
            <a:ext cx="2056094" cy="4078224"/>
          </a:xfrm>
          <a:prstGeom prst="roundRect">
            <a:avLst>
              <a:gd name="adj" fmla="val 4447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intro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20"/>
            <a:ext cx="1909790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66375" y="59344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07826"/>
          </a:solidFill>
          <a:ln/>
        </p:spPr>
      </p:sp>
      <p:sp>
        <p:nvSpPr>
          <p:cNvPr id="8" name="Text 4"/>
          <p:cNvSpPr/>
          <p:nvPr/>
        </p:nvSpPr>
        <p:spPr>
          <a:xfrm>
            <a:off x="1366375" y="593445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ANIMADO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063240" y="1874520"/>
            <a:ext cx="8485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conhecer a pessoa, o Grão encanta e explica.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063240" y="2395728"/>
            <a:ext cx="8485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telas ilustradas e animadas na abertura do app: pôr do sol no campo, a semente que brota, a família unida e o momento pessoal. Movimento suave, tom de calma, cara de produto profissional.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017520" y="3474720"/>
            <a:ext cx="1147767" cy="2377440"/>
          </a:xfrm>
          <a:prstGeom prst="roundRect">
            <a:avLst>
              <a:gd name="adj" fmla="val 5577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/Users/lucassouza/grao/pitch/telas/intro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520440"/>
            <a:ext cx="1056327" cy="22860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29879" y="3474720"/>
            <a:ext cx="1147767" cy="2377440"/>
          </a:xfrm>
          <a:prstGeom prst="roundRect">
            <a:avLst>
              <a:gd name="adj" fmla="val 5577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/Users/lucassouza/grao/pitch/telas/intro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599" y="3520440"/>
            <a:ext cx="1056327" cy="22860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642238" y="3474720"/>
            <a:ext cx="1147767" cy="2377440"/>
          </a:xfrm>
          <a:prstGeom prst="roundRect">
            <a:avLst>
              <a:gd name="adj" fmla="val 5577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/Users/lucassouza/grao/pitch/telas/intro-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958" y="3520440"/>
            <a:ext cx="1056327" cy="22860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954597" y="3474720"/>
            <a:ext cx="1147767" cy="2377440"/>
          </a:xfrm>
          <a:prstGeom prst="roundRect">
            <a:avLst>
              <a:gd name="adj" fmla="val 5577"/>
            </a:avLst>
          </a:prstGeom>
          <a:solidFill>
            <a:srgbClr val="FFFFF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5" descr="/Users/lucassouza/grao/pitch/telas/intro-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317" y="3520440"/>
            <a:ext cx="1056327" cy="2286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063240" y="5989320"/>
            <a:ext cx="8485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E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modo apresentação do PowerPoint, o GIF roda de verdade. E o protótipo web (QR do slide anterior) é animado.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POR QUE PAGAM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é grátis. Constância, não.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6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paga por mais um versículo. Paga por conseguir caminhar com Deus todo dia, do próprio jeito.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5271516" cy="1280160"/>
          </a:xfrm>
          <a:prstGeom prst="roundRect">
            <a:avLst>
              <a:gd name="adj" fmla="val 7857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62432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hábito diário que a pessoa não sustenta sozinha. É isso que ela compra.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7356" y="2331720"/>
            <a:ext cx="5271516" cy="1280160"/>
          </a:xfrm>
          <a:prstGeom prst="roundRect">
            <a:avLst>
              <a:gd name="adj" fmla="val 7857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97396" y="262432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Pessoal, não genérico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97396" y="315468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no momento dela, ansiedade, luto, gratidão. Não é o mesmo devocional pra todos.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749040"/>
            <a:ext cx="5271516" cy="1280160"/>
          </a:xfrm>
          <a:prstGeom prst="roundRect">
            <a:avLst>
              <a:gd name="adj" fmla="val 7857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04164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fricção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0120" y="457200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WhatsApp, onde ela já vive. Não precisa lembrar de abrir nada.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77356" y="3749040"/>
            <a:ext cx="5271516" cy="1280160"/>
          </a:xfrm>
          <a:prstGeom prst="roundRect">
            <a:avLst>
              <a:gd name="adj" fmla="val 7857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97396" y="404164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Confiança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97396" y="4572000"/>
            <a:ext cx="4631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 é íntimo. Tratamos como dado sensível, com cuidado e dentro da LGPD.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5257800"/>
            <a:ext cx="10908792" cy="960120"/>
          </a:xfrm>
          <a:prstGeom prst="roundRect">
            <a:avLst>
              <a:gd name="adj" fmla="val 10476"/>
            </a:avLst>
          </a:prstGeom>
          <a:solidFill>
            <a:srgbClr val="3B2208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525780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disposição a pagar já existe: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dízimo, livros, congressos, música gospel.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R$49/mês é menos que um show. Falta um produto diário à altura.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 QUE MUDA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uma fé espremida a um ritmo diário.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25796" cy="3017520"/>
          </a:xfrm>
          <a:prstGeom prst="roundRect">
            <a:avLst>
              <a:gd name="adj" fmla="val 3333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21945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274320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Devocional esquecido, culpa por não conseguir manter.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 no feed: ansiedade e comparação.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411480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dias difíceis, sozinho.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23076" y="1920240"/>
            <a:ext cx="5225796" cy="3017520"/>
          </a:xfrm>
          <a:prstGeom prst="roundRect">
            <a:avLst>
              <a:gd name="adj" fmla="val 3333"/>
            </a:avLst>
          </a:prstGeom>
          <a:solidFill>
            <a:srgbClr val="3B220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88836" y="21945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88836" y="274320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 por dia que cabe na rotina, todo dia.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88836" y="342900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 com uma palavra de paz e direção.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88836" y="4114800"/>
            <a:ext cx="4494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te encontra no luto, na ansiedade, na gratidão.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0080" y="52120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tempo, a Raiz mostra a caminhada: a pessoa vê que cresceu e pertence a algo. Não é mais um app, é começar o dia com Deus, e conseguir manter.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POR QUE AGORA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forças tornam o Grão possível hoje.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5271516" cy="2651760"/>
          </a:xfrm>
          <a:prstGeom prst="roundRect">
            <a:avLst>
              <a:gd name="adj" fmla="val 3793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225856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46314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em praticamente todo smartphone brasileiro. Zero fricção: a pessoa não baixa nada e não precisa lembrar de abrir. A semente chega.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77356" y="1965960"/>
            <a:ext cx="5271516" cy="2651760"/>
          </a:xfrm>
          <a:prstGeom prst="roundRect">
            <a:avLst>
              <a:gd name="adj" fmla="val 3793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97396" y="225856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artificial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97396" y="2788920"/>
            <a:ext cx="46314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espiritual em escala, individual e diária, sem custo humano por mensagem. É o que transforma conteúdo em relacionamento.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A6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Juntos: o hábito diário que nenhum app de devocional conseguiu criar.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POR DENTRO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funciona, para quem constrói.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271516" cy="1353312"/>
          </a:xfrm>
          <a:prstGeom prst="roundRect">
            <a:avLst>
              <a:gd name="adj" fmla="val 7432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216712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com IA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697480"/>
            <a:ext cx="463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conversa (Claude) monta um perfil invisível: tradição de fé, canal sensorial, traços e família emocional. Pra pessoa, é só uma conversa.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77356" y="1874520"/>
            <a:ext cx="5271516" cy="1353312"/>
          </a:xfrm>
          <a:prstGeom prst="roundRect">
            <a:avLst>
              <a:gd name="adj" fmla="val 7432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97396" y="2167128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curadoria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97396" y="2697480"/>
            <a:ext cx="463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+ momento emocional selecionam a semente de uma biblioteca curada: versículo, reflexão, oração, prática e música.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355848"/>
            <a:ext cx="5271516" cy="1353312"/>
          </a:xfrm>
          <a:prstGeom prst="roundRect">
            <a:avLst>
              <a:gd name="adj" fmla="val 7432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60120" y="3648456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e app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0120" y="4178808"/>
            <a:ext cx="463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para a entrega (roadmap). App Expo/React Native como painel: Hoje, Campo e Raiz.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77356" y="3355848"/>
            <a:ext cx="5271516" cy="1353312"/>
          </a:xfrm>
          <a:prstGeom prst="roundRect">
            <a:avLst>
              <a:gd name="adj" fmla="val 7432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97396" y="3648456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Privacidade e custo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97396" y="4178808"/>
            <a:ext cx="463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religioso é sensível (LGPD): consentimento, classificação invisível, exclusão total. IA + mensagem custam centavos por dia, com cache de prompt.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protótipo funcional (app, fluxo e backend com IA). A construir: WhatsApp em produção, biblioteca de conteúdo em escala e medição de retenção.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MERCADO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público enorme, e já reunido.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796796" y="1874520"/>
            <a:ext cx="8595360" cy="932688"/>
          </a:xfrm>
          <a:prstGeom prst="roundRect">
            <a:avLst>
              <a:gd name="adj" fmla="val 7843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162556" y="1874520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351276" y="1874520"/>
            <a:ext cx="6766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milhões  </a:t>
            </a:r>
            <a:pPr indent="0" marL="0">
              <a:buNone/>
            </a:pPr>
            <a:r>
              <a:rPr lang="en-US" sz="125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Evangélicos com smartphone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39796" y="2953512"/>
            <a:ext cx="6309360" cy="932688"/>
          </a:xfrm>
          <a:prstGeom prst="roundRect">
            <a:avLst>
              <a:gd name="adj" fmla="val 7843"/>
            </a:avLst>
          </a:prstGeom>
          <a:solidFill>
            <a:srgbClr val="E0B57E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05556" y="2953512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494276" y="2953512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milhões  </a:t>
            </a:r>
            <a:pPr indent="0" marL="0">
              <a:buNone/>
            </a:pPr>
            <a:r>
              <a:rPr lang="en-US" sz="125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Praticantes digitais dispostos a pagar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082796" y="4032504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3B2208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48556" y="4032504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7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37276" y="403250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 mil  </a:t>
            </a:r>
            <a:pPr indent="0" marL="0">
              <a:buNone/>
            </a:pPr>
            <a:r>
              <a:rPr lang="en-US" sz="125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 pagantes (3 a 5 anos)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0080" y="52578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C078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525780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SOM, a R$49/mês:  </a:t>
            </a:r>
            <a:pPr indent="0" marL="0">
              <a:buNone/>
            </a:pPr>
            <a:r>
              <a:rPr lang="en-US" sz="1500" b="1" dirty="0">
                <a:solidFill>
                  <a:srgbClr val="9E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R$ 118 milhões a R$ 294 milhões de ARR</a:t>
            </a:r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200 mil = ~0,5% dos evangélicos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na Assembleia de Deus (12M+ membros). Números a validar com Censo IBGE 2022 e Datafolha.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PROJEÇÃO DE CRESCIMENTO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rampa, ano a ano.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 ANUAL (ARR) — R$ MILHÕES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0312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148840"/>
          <a:ext cx="3840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08760"/>
                <a:gridCol w="1508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R$ 2,9 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R$ 23,5 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R$ 88 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mil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R$ 176 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R$ 294 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7680960" y="5440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base, a validar. Com o aporte e a força técnica, a rampa encurta.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MODELO DE NEGÓCIO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Escada de preço, margem alta.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0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R$ 19,90/mês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semente diária no WhatsApp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R$ 49/mês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Completo: semente + app + histórico + música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R$ 468/ano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2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meses grátis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4617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entrada amplia o alcance; Plantio é o principal.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7772400" y="2011680"/>
            <a:ext cx="3749040" cy="786384"/>
          </a:xfrm>
          <a:prstGeom prst="roundRect">
            <a:avLst>
              <a:gd name="adj" fmla="val 11628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046720" y="2011680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9509760" y="201168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772400" y="2944368"/>
            <a:ext cx="3749040" cy="786384"/>
          </a:xfrm>
          <a:prstGeom prst="roundRect">
            <a:avLst>
              <a:gd name="adj" fmla="val 11628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046720" y="2944368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R$ 880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9509760" y="2944368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por assinante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0" y="3877056"/>
            <a:ext cx="3749040" cy="786384"/>
          </a:xfrm>
          <a:prstGeom prst="roundRect">
            <a:avLst>
              <a:gd name="adj" fmla="val 11628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046720" y="3877056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E5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&gt;20x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9509760" y="387705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(via igreja)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772400" y="4937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usuário R$2–4/mês (IA + mensagem). CAC baixo via endosso do líder.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COMO CHEGAMOS AO PÚBLICO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igreja é o canal. A Assembleia é a porta.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392424" cy="2834640"/>
          </a:xfrm>
          <a:prstGeom prst="roundRect">
            <a:avLst>
              <a:gd name="adj" fmla="val 3871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Foco: Assembleia de Deus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44728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denominação do país, 12M+ membros e uma rede capilar de líderes. É onde o público-alvo já está reunido.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1965960"/>
            <a:ext cx="3392424" cy="2834640"/>
          </a:xfrm>
          <a:prstGeom prst="roundRect">
            <a:avLst>
              <a:gd name="adj" fmla="val 3871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22402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12" name="Text 9"/>
          <p:cNvSpPr/>
          <p:nvPr/>
        </p:nvSpPr>
        <p:spPr>
          <a:xfrm>
            <a:off x="4672584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72584" y="288036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Canal: a própria igreja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672584" y="344728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pastor que adota traz a congregação. Distribuição comunitária, CAC baixo. Cada semente é compartilhável.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6448" y="1965960"/>
            <a:ext cx="3392424" cy="2834640"/>
          </a:xfrm>
          <a:prstGeom prst="roundRect">
            <a:avLst>
              <a:gd name="adj" fmla="val 3871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30768" y="22402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17" name="Text 14"/>
          <p:cNvSpPr/>
          <p:nvPr/>
        </p:nvSpPr>
        <p:spPr>
          <a:xfrm>
            <a:off x="843076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430768" y="288036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ponte certa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30768" y="3447288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com liderança influente no meio evangélico e empresarial de SP, com acesso a pastores da Assembleia. Abre as portas certas.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com igrejas (plano igreja / co-branding) transforma cada líder em um canal de aquisição.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NOSSO DIFERENCIAL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Confiança é o nosso fosso.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Personalização real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2313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fé + momento emocional escolhem a semente. Não é conteúdo em massa, é direção.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32918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de fé é sensível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71600" y="36850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 dentro da LGPD, com consentimento claro e direito de apagar tudo. A pessoa confia.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C0782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46634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de calma e cuidado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1600" y="50566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copiar por quem só empilha conteúdo. A experiência inteira respira propósito.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ONDE ESTAMOS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02412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protótipo aos primeiros pagantes.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2424" cy="2560320"/>
          </a:xfrm>
          <a:prstGeom prst="roundRect">
            <a:avLst>
              <a:gd name="adj" fmla="val 4286"/>
            </a:avLst>
          </a:prstGeom>
          <a:solidFill>
            <a:srgbClr val="3B2208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242316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301752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funcional: app, fluxo completo, backend com IA e entrega simulada no WhatsApp.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98264" y="2103120"/>
            <a:ext cx="3392424" cy="2560320"/>
          </a:xfrm>
          <a:prstGeom prst="roundRect">
            <a:avLst>
              <a:gd name="adj" fmla="val 4286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18304" y="242316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E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18304" y="301752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em produção + piloto com 50 igrejas + ~1.500 assinantes pagos.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56448" y="2103120"/>
            <a:ext cx="3392424" cy="2560320"/>
          </a:xfrm>
          <a:prstGeom prst="roundRect">
            <a:avLst>
              <a:gd name="adj" fmla="val 4286"/>
            </a:avLst>
          </a:prstGeom>
          <a:solidFill>
            <a:srgbClr val="FBF7EF"/>
          </a:solidFill>
          <a:ln w="12700">
            <a:solidFill>
              <a:srgbClr val="E7DDC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76488" y="242316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E5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76488" y="301752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B2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assinantes (~R$2,9M ARR), com aquisição via igrejas rodando.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referência, a ajustar com o time. Com aporte e força técnica, o caminho encurta para meses.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B2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am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7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O QUE BUSCAMOS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7F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coisas para transformar o protótipo em produto na mão do público certo.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2148840"/>
            <a:ext cx="5225796" cy="2148840"/>
          </a:xfrm>
          <a:prstGeom prst="roundRect">
            <a:avLst>
              <a:gd name="adj" fmla="val 5106"/>
            </a:avLst>
          </a:prstGeom>
          <a:solidFill>
            <a:srgbClr val="4A2E10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46888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7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Sócio + força técnica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063240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Visão, capital e time de engenharia para levar o Grão à produção. R$ 1,5M (pré-seed, 18 meses) ou parceria estratégica equivalente.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23076" y="2148840"/>
            <a:ext cx="5225796" cy="2148840"/>
          </a:xfrm>
          <a:prstGeom prst="roundRect">
            <a:avLst>
              <a:gd name="adj" fmla="val 5106"/>
            </a:avLst>
          </a:prstGeom>
          <a:solidFill>
            <a:srgbClr val="4A2E10"/>
          </a:solidFill>
          <a:ln/>
        </p:spPr>
      </p:sp>
      <p:sp>
        <p:nvSpPr>
          <p:cNvPr id="9" name="Text 6"/>
          <p:cNvSpPr/>
          <p:nvPr/>
        </p:nvSpPr>
        <p:spPr>
          <a:xfrm>
            <a:off x="6688836" y="246888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7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Ponte de distribuição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688836" y="3063240"/>
            <a:ext cx="44942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liderança evangélica, com foco na Assembleia de Deus, para colocar o Grão na frente do público que ele foi feito para servir.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617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Produto/Eng 45%  ·  Curadoria 20%  ·  Aquisição/parcerias 25%  ·  Operação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51663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o primeiro gesto do dia de milhões de brasileiros seja com Deus, e não com o feed.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plantar com a gente.   ·   [seu nome] · [contato]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Grão — Pitch</dc:title>
  <dc:subject>PptxGenJS Presentation</dc:subject>
  <dc:creator>Grão</dc:creator>
  <cp:lastModifiedBy>Grão</cp:lastModifiedBy>
  <cp:revision>1</cp:revision>
  <dcterms:created xsi:type="dcterms:W3CDTF">2026-07-14T15:22:36Z</dcterms:created>
  <dcterms:modified xsi:type="dcterms:W3CDTF">2026-07-14T15:22:36Z</dcterms:modified>
</cp:coreProperties>
</file>